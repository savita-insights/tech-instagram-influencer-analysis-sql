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764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801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6388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3978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8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0900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1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946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1071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4226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5930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7E4FC7B-A8E2-3B16-7F96-2837BC58EA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0" y="-82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82C3DE-FACE-97B5-689A-6C077352B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18980"/>
            <a:ext cx="8949128" cy="1008830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rgbClr val="FFFFFF"/>
                </a:solidFill>
              </a:rPr>
              <a:t>Tech Instagram Influencer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5F92D-D5C5-6AA7-74A1-CB78235BE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97" y="3509963"/>
            <a:ext cx="8148186" cy="1747837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FFFF"/>
                </a:solidFill>
              </a:rPr>
              <a:t>SQL-Based Performance &amp; Engagement Insights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EA8143-07A7-48F0-46E2-2D5DAF90AF47}"/>
              </a:ext>
            </a:extLst>
          </p:cNvPr>
          <p:cNvSpPr txBox="1"/>
          <p:nvPr/>
        </p:nvSpPr>
        <p:spPr>
          <a:xfrm>
            <a:off x="13097" y="5728674"/>
            <a:ext cx="6565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by:</a:t>
            </a:r>
            <a:r>
              <a:rPr lang="en-US" dirty="0">
                <a:solidFill>
                  <a:schemeClr val="bg1"/>
                </a:solidFill>
              </a:rPr>
              <a:t> Savitha M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Date:</a:t>
            </a:r>
            <a:r>
              <a:rPr lang="en-US" dirty="0">
                <a:solidFill>
                  <a:schemeClr val="bg1"/>
                </a:solidFill>
              </a:rPr>
              <a:t> 01-05-2026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8AA84FC6-01D1-68CF-885E-788E7A67B7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32741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7854">
        <p15:prstTrans prst="peelOff"/>
      </p:transition>
    </mc:Choice>
    <mc:Fallback xmlns="">
      <p:transition spd="slow" advTm="378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ADF26-47E7-E671-32D7-DEC36680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4F62338-2CC9-7D22-3A7E-30BE0572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8230DA0-51DC-8480-C61A-5E0B5D5FAA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2EA2A-C032-8E42-B1F1-0BAA82E0B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670" y="60903"/>
            <a:ext cx="5434262" cy="977032"/>
          </a:xfrm>
        </p:spPr>
        <p:txBody>
          <a:bodyPr>
            <a:normAutofit/>
          </a:bodyPr>
          <a:lstStyle/>
          <a:p>
            <a:pPr algn="ctr"/>
            <a:r>
              <a:rPr lang="en-IN" sz="5400" i="0" u="sng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2B621-BBDB-FE9A-C8C1-0FF2E998E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61" y="3428995"/>
            <a:ext cx="7630931" cy="3040739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Analyze Instagram account performance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Identify high-performing content types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Understand engagement trends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Provide data-driven recommendations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B00001CB-40C0-0FBA-B3B5-BF26F8BA8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3A9E9E49-DB6F-3632-F80C-5441FB9EF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8625E242-11B8-FFD1-C910-8CF21028D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3644758E-56B9-9147-71F7-DAE4F68AC7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64828FD6-74C0-5ABC-CBC4-55BCCA4AAB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87FB80F0-32D0-D4DA-F733-F690F58226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96D48F49-5404-1933-9066-EFAB2A866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99348C9-E60B-9830-9667-06FB23E4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14807D1-D223-E739-C834-96DCF314A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4B636CE-3163-C844-8429-4367D80EF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27DE4D-BC2B-75BC-ECC8-6E7B06574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7A563E2-DAE3-D6E9-1800-60CFDE8AB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768746FF-772A-4CB9-3314-BB127E27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1EBCB1AE-E369-F316-2182-770550320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3A13B18E-2FC6-E909-0E91-F6336A348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32F99A2-17B7-C220-B042-27B76F6D1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1BE5ADA5-00C3-55EB-1E4C-577D5C726F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2919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7229">
        <p15:prstTrans prst="peelOff"/>
      </p:transition>
    </mc:Choice>
    <mc:Fallback xmlns="">
      <p:transition spd="slow" advTm="1722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01B0B-7B2F-B296-7F2B-8DC71176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9A22C00-085A-2A1E-D45E-5FDFF7F8C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BC976CB-61E6-0948-4445-A9A820C1E99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t="6782" r="-1" b="20852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331053-551E-A338-5600-FE0EBB5DF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11" y="5698818"/>
            <a:ext cx="7131298" cy="977032"/>
          </a:xfrm>
        </p:spPr>
        <p:txBody>
          <a:bodyPr>
            <a:normAutofit fontScale="90000"/>
          </a:bodyPr>
          <a:lstStyle/>
          <a:p>
            <a:pPr algn="r"/>
            <a:r>
              <a:rPr lang="en-IN" sz="5400" i="0" u="sng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A948A-D364-AAA1-6EA2-071CD3439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8786" y="45718"/>
            <a:ext cx="7114184" cy="445034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Abadi" panose="020B0604020104020204" pitchFamily="34" charset="0"/>
              </a:rPr>
              <a:t>Dataset consists of 3 tables:</a:t>
            </a:r>
            <a:endParaRPr lang="en-US" sz="2400" dirty="0">
              <a:solidFill>
                <a:srgbClr val="FFC000"/>
              </a:solidFill>
              <a:latin typeface="Abadi" panose="020B060402010402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b="1" dirty="0" err="1">
                <a:solidFill>
                  <a:schemeClr val="bg1"/>
                </a:solidFill>
                <a:latin typeface="Abadi" panose="020B0604020104020204" pitchFamily="34" charset="0"/>
              </a:rPr>
              <a:t>dim_dates</a:t>
            </a: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 → Date-level information 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b="1" dirty="0" err="1">
                <a:solidFill>
                  <a:schemeClr val="bg1"/>
                </a:solidFill>
                <a:latin typeface="Abadi" panose="020B0604020104020204" pitchFamily="34" charset="0"/>
              </a:rPr>
              <a:t>fact_account</a:t>
            </a: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 → Profile visits &amp; followers 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b="1" dirty="0" err="1">
                <a:solidFill>
                  <a:schemeClr val="bg1"/>
                </a:solidFill>
                <a:latin typeface="Abadi" panose="020B0604020104020204" pitchFamily="34" charset="0"/>
              </a:rPr>
              <a:t>fact_content</a:t>
            </a: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 → Post-level engagement </a:t>
            </a:r>
          </a:p>
          <a:p>
            <a:r>
              <a:rPr lang="en-US" sz="2400" b="1" dirty="0">
                <a:solidFill>
                  <a:srgbClr val="FFC000"/>
                </a:solidFill>
                <a:latin typeface="Abadi" panose="020B0604020104020204" pitchFamily="34" charset="0"/>
              </a:rPr>
              <a:t>Metrics Analyzed:</a:t>
            </a:r>
            <a:endParaRPr lang="en-US" sz="2400" dirty="0">
              <a:solidFill>
                <a:srgbClr val="FFC000"/>
              </a:solidFill>
              <a:latin typeface="Abadi" panose="020B060402010402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Reach 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Impressions 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Likes, Comments, Saves 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Shares &amp; Followers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8794A12A-5DEF-2A55-3880-55C1907BB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F7539C81-B816-9E6C-3FAE-5B6DC6E9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D0C2D6F6-75BE-CBF1-6544-61E204DD4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7C7C83E2-1CA8-4C26-4F49-2E076C35D2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A324127E-75F0-77EB-87B7-AB9D123F34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8F141BDB-7924-0047-EF93-8D82D14B61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08BD2203-9FC5-6AB0-BE94-B36EB10304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5C324DC-5CF2-7138-DAC3-C54DB38D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40D33DE-2C51-21BD-64B4-CEF9A9DB6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DD8E324-23D3-1AB7-250B-3D4F3F01E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FE1D22B-F160-B0E6-CAE3-4C02FE9AD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0FADC17-B214-2ADD-9405-597EA2BBC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BC0A1918-2B50-EACB-9EEF-7CFA7CB8C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F8E6B658-584C-925B-0627-5697443B9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CB13708D-69B7-4C23-80B7-20C0AAC8F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6F244CF-9855-4D8C-5E28-743E0C1D7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71C36214-509F-F4B2-8149-46CC3ABD853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7435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4558">
        <p15:prstTrans prst="peelOff"/>
      </p:transition>
    </mc:Choice>
    <mc:Fallback xmlns="">
      <p:transition spd="slow" advTm="2455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43AEE-6943-9BE8-ED5C-7176BBA4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14CE18B-2667-0F98-8C2D-C22252623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1C8953-0EC7-AC01-6CAF-F4FF8C48B4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B2838-2E9F-961C-5063-E5DC48337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31" y="1746192"/>
            <a:ext cx="7131298" cy="977032"/>
          </a:xfrm>
        </p:spPr>
        <p:txBody>
          <a:bodyPr>
            <a:normAutofit fontScale="90000"/>
          </a:bodyPr>
          <a:lstStyle/>
          <a:p>
            <a:r>
              <a:rPr lang="en-IN" sz="5400" i="0" u="sng" dirty="0">
                <a:solidFill>
                  <a:schemeClr val="bg1"/>
                </a:solidFill>
              </a:rPr>
              <a:t>DATA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5092C-9825-C32F-24A0-C56967C30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57" y="3380693"/>
            <a:ext cx="7922517" cy="3033240"/>
          </a:xfrm>
        </p:spPr>
        <p:txBody>
          <a:bodyPr>
            <a:normAutofit fontScale="925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Standardized column names (snake_case)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Converted data types (VARCHAR → INT)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Added column metadata for clarity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Validated joins between tables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58F3ED46-7203-E4BC-1723-4E99112C2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44D57A42-35BE-BB09-C5CC-6154DC0C1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4D13E989-86BA-60E3-3BDE-FB69D2371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55FE0EE1-08CF-7F2D-23CB-F32013506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FAF29C5C-248A-A288-97AF-EC04244498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F2B18C3F-B5C4-AB16-0D38-2CEDCDF199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08BE21FA-1331-ABB1-C70A-1B112AFCE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DA52823-C8AB-D8BD-0A33-9DADB3976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1E205FE-21DB-10DD-94B2-ED1E1A2F7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5C6CFB0-11F1-06DC-3138-C5F94C16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9F67566-A6F8-4866-7952-01B1CFD5D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E640795-85D2-B3BD-4779-7CDE3073B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D8F5CE48-E111-2B69-03E6-72B30D8F6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FEF3CDCC-494C-34E8-14A2-78A5E791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E2885CDE-B149-BAD6-986C-AB6551228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C78C630-CA6C-D8FA-DBAF-85BAD9B3A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A9F7B327-FC48-AB66-2417-3EF1A58922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2454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9701">
        <p15:prstTrans prst="peelOff"/>
      </p:transition>
    </mc:Choice>
    <mc:Fallback xmlns="">
      <p:transition spd="slow" advTm="1970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47E5A-6B84-55D6-2B92-5224553C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3EEAE29-5CF4-1242-6887-2C90448FA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1C1163-4C71-FE9B-3813-671D70DF4C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C1B907-6C9D-1E26-C20E-FC4E439E9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40" y="204639"/>
            <a:ext cx="5942423" cy="1440584"/>
          </a:xfrm>
        </p:spPr>
        <p:txBody>
          <a:bodyPr>
            <a:noAutofit/>
          </a:bodyPr>
          <a:lstStyle/>
          <a:p>
            <a:r>
              <a:rPr lang="fr-FR" sz="4400" i="0" u="sng" dirty="0">
                <a:solidFill>
                  <a:schemeClr val="bg1"/>
                </a:solidFill>
              </a:rPr>
              <a:t>CONTENT TYPE ANALYSIS (Q1 &amp; Q2)</a:t>
            </a:r>
            <a:endParaRPr lang="en-IN" sz="4400" i="0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BD022-EBDB-3CDA-6CDA-9F404B3D4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0" y="4094975"/>
            <a:ext cx="6293319" cy="2691331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Identified unique post types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Compared highest &amp; lowest impressions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Evaluated performance variation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DDF18DD3-A24C-B071-2DDE-4BC6D870A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C6E5171A-DD2C-84E2-2693-98FFB3B9E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68FB4E9C-9E77-5280-1993-A0A13F52C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FB1FB767-2474-CA2A-AD27-80D93C0ABE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8E1E2F6F-F2B3-924E-7A67-5FEF85E39D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F70FCD65-0B6E-7E88-88B2-A02851F55C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20209CBE-2884-0E26-8137-92B5C9FFE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F8CAD12-F84D-EFB0-3917-3DAFFDBB0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8D323C-F350-947D-C32B-E02DDE6E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378878C-FBAB-8088-F313-C5EAEC35A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D8E90C9-6146-D2AE-E325-06FD9C7A5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FB43775-A922-58F1-6A57-B0F8B2C9C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64BE69E0-C419-CC85-6BCC-D4BF1F656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F80BB082-A298-7D59-4108-C4ABB797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1F1BB09A-C0AF-F655-4C21-E1751F844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4E3C866-35EE-8B59-8725-8576C600C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DF0C417-F73D-215E-A5A6-0816A35FDE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895" y="1928339"/>
            <a:ext cx="5457037" cy="2203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093E24-1EA8-9496-7397-0643748FC4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800" y="4169870"/>
            <a:ext cx="5496014" cy="2695160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4EF43047-93DE-3C85-8A28-9D28EB711D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8853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7138">
        <p15:prstTrans prst="peelOff"/>
      </p:transition>
    </mc:Choice>
    <mc:Fallback xmlns="">
      <p:transition spd="slow" advTm="1713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AC774-F65F-A9DA-F4F1-27B32170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1B45399-F076-4E5B-D597-876376AAF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4BCC283-1689-116E-DCCE-4CF85425BA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AD934-A085-65E6-A361-E5E56E46F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40" y="204639"/>
            <a:ext cx="5942423" cy="1440584"/>
          </a:xfrm>
        </p:spPr>
        <p:txBody>
          <a:bodyPr>
            <a:noAutofit/>
          </a:bodyPr>
          <a:lstStyle/>
          <a:p>
            <a:r>
              <a:rPr lang="en-IN" sz="4400" i="0" u="sng" dirty="0">
                <a:solidFill>
                  <a:schemeClr val="bg1"/>
                </a:solidFill>
              </a:rPr>
              <a:t>WEEKEND ANALYSIS (Q3)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3E072-5806-05A9-B184-8347B08BD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5436" y="1393939"/>
            <a:ext cx="4891811" cy="1777703"/>
          </a:xfrm>
        </p:spPr>
        <p:txBody>
          <a:bodyPr anchor="ctr">
            <a:normAutofit fontScale="85000" lnSpcReduction="1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Filtered posts from March &amp; April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Selected only weekend content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Exported data for further analysis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9E92D96F-BA6E-24AB-6968-BF03C54FE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70DD4D1D-3A6E-A309-FA1F-DE623EE73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EAECDEB4-B842-D2CF-746C-F20AC0841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AAEBB660-EA40-C8F8-2284-6A42F42080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2A51EDA6-1E7A-B617-B08C-3C964C8759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36589DC6-D0AB-E676-744A-0B88DD0973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3BE8C500-0086-2F1E-F0AF-2037E01C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494547C-02F2-A23F-37DF-7BA63D253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E73FE0-4CE0-6B58-4E11-6791DA9D2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A3571F1-AA0C-8095-BB38-5CBD1723B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EEC4A75-C9DD-9205-B5FD-ED00098EB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FC61BC1-63DD-7547-0FCB-8122890A9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9A4E5C42-20DF-1910-90EC-708061D64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23EF8092-3FB2-5F2C-DA60-4D47BC159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2D18B4F2-73CA-2F32-78E9-2CCC639D3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2EDA49E-2074-4985-C906-FF1C022CA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E44235B-559C-D7FD-FC9A-D20689108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66" y="3681135"/>
            <a:ext cx="7077820" cy="3176855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0D5C763D-D2BF-3A15-4264-BF985D7A15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6423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6506">
        <p15:prstTrans prst="peelOff"/>
      </p:transition>
    </mc:Choice>
    <mc:Fallback xmlns="">
      <p:transition spd="slow" advTm="165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0CEA6-8979-E234-F8D8-4CB0EB40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67AE7D1-F106-C802-230D-A1A3E255C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910B6A7-E757-7A92-C772-910BF396B0D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16163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83892C-6274-5E42-6656-A188358E9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40" y="204639"/>
            <a:ext cx="5942423" cy="1440584"/>
          </a:xfrm>
        </p:spPr>
        <p:txBody>
          <a:bodyPr>
            <a:noAutofit/>
          </a:bodyPr>
          <a:lstStyle/>
          <a:p>
            <a:r>
              <a:rPr lang="en-IN" sz="4400" i="0" u="sng" dirty="0">
                <a:solidFill>
                  <a:schemeClr val="bg1"/>
                </a:solidFill>
              </a:rPr>
              <a:t>MONTHLY GROWTH (Q4)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98780-6B24-BDA3-555A-6BCD260F4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0" y="5001462"/>
            <a:ext cx="4891811" cy="1777703"/>
          </a:xfrm>
        </p:spPr>
        <p:txBody>
          <a:bodyPr anchor="ctr">
            <a:norm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Aggregated profile visits by month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Calculated new followers per month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Identified growth trends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559C5D79-CC6F-68DE-707A-F7C157225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0B29B747-29D6-BDBF-DC81-09E779458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63536DC6-858E-9672-5824-08184F025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3C931A69-F113-F0AA-A843-B7433C413A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26506312-A6CF-3034-908E-D490A9194D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6D52162E-449D-1AB4-BA55-487B1DE6D7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10DE06D1-7FDB-1207-5A21-C1527C8E6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0143123-CF25-56EB-274C-F113AA2E0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F3CE780-EBEE-7E3C-F4A1-9EF33A7AC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65E1F19-67ED-8BA7-A897-799FA0A3C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6C7CA5D-0430-3FFE-8A93-869FA9480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D646E3D-0C4C-E47E-177D-52BB6BDE2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1042B570-FB6A-6966-2E99-A3176EC7B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5A2D152D-64FF-11D2-32AE-BA5DEF9D9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6FA74260-CE2A-D612-4FF5-543A1325E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CCA947B-0B80-64A7-1891-1F27F2A29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E75F80C-68BE-FC47-5CEB-D795795C06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289" y="1655772"/>
            <a:ext cx="6492548" cy="5202228"/>
          </a:xfrm>
          <a:prstGeom prst="rect">
            <a:avLst/>
          </a:prstGeom>
        </p:spPr>
      </p:pic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F8BEA741-BC23-41EE-D8D9-70486AD146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73744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4453">
        <p15:prstTrans prst="peelOff"/>
      </p:transition>
    </mc:Choice>
    <mc:Fallback xmlns="">
      <p:transition spd="slow" advTm="1445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E017D-DF9B-3F69-10D4-6B84872F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7CE4607-0DE7-B264-A488-AF3A9C300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886016D-D199-29EA-56B1-2AA9E720D0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16162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65D22A-8B77-8A80-521B-7A1A8882B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10" y="415954"/>
            <a:ext cx="6112879" cy="1106742"/>
          </a:xfrm>
        </p:spPr>
        <p:txBody>
          <a:bodyPr>
            <a:noAutofit/>
          </a:bodyPr>
          <a:lstStyle/>
          <a:p>
            <a:r>
              <a:rPr lang="fr-FR" i="0" u="sng" dirty="0">
                <a:solidFill>
                  <a:schemeClr val="bg1"/>
                </a:solidFill>
              </a:rPr>
              <a:t>ENGAGEMENT INSIGHTS (Q5, Q6, Q7)</a:t>
            </a:r>
            <a:endParaRPr lang="en-IN" i="0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577E4-CA1E-1A9D-6E00-198D525D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62" y="4866658"/>
            <a:ext cx="7365949" cy="1911346"/>
          </a:xfrm>
        </p:spPr>
        <p:txBody>
          <a:bodyPr anchor="ctr">
            <a:norm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Identified top-performing content categories using likes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Analyzed content diversity across months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Calculated reach contribution by post type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A0972EFA-AC05-57F3-5562-26DF8444D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ADDFB5A3-7A4C-57D9-64A6-3CA0B1E3B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773BE1D1-D3DE-1690-FC3E-6CA06DDD8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BEF6E90F-D7BB-3035-7F5C-7B8A400E02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61E53FEB-2A74-0FD6-BC0B-9E649F4C36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1684E852-4780-3A35-45C0-60E375825B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F5FAE18B-815E-BF88-3B0B-22DB241983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11FA5C7-40DC-21CC-49AD-98F2ED3FA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0A72F71-0176-8624-74A7-FCD3CE34C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E2482F8-42D8-5326-3376-32105B7F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5A71495-2B78-93C2-3D10-39F91E7DD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D4DFE32-8E97-C2D8-5AB2-BEDCB9414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30362365-0CDF-1060-FFD3-A99A83C3A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188361AB-D203-D568-5FFB-6F60358D6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65F0C0FC-9698-A879-C183-5991A56E2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F54D8B-6BAF-C054-4A39-8FD890C26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3A50236-9897-4799-9533-D23FED8B1A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400" y="1649429"/>
            <a:ext cx="6559438" cy="3320939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8EA19B4A-D0C1-B47D-D9E5-C10ADBF851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450531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8003">
        <p15:prstTrans prst="peelOff"/>
      </p:transition>
    </mc:Choice>
    <mc:Fallback xmlns="">
      <p:transition spd="slow" advTm="1800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A3979-A989-57E6-8796-51BEBF3A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669FFF6-CAF9-52BB-6B86-1AE19BC72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7B3627E-497E-4548-7EFC-A5FA599735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-36337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A7872A-6C9B-CDB5-DD73-CBAEF3DCB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40" y="119890"/>
            <a:ext cx="5643272" cy="1440584"/>
          </a:xfrm>
        </p:spPr>
        <p:txBody>
          <a:bodyPr>
            <a:noAutofit/>
          </a:bodyPr>
          <a:lstStyle/>
          <a:p>
            <a:pPr algn="ctr"/>
            <a:r>
              <a:rPr lang="en-US" sz="3600" i="0" u="sng" dirty="0">
                <a:solidFill>
                  <a:schemeClr val="bg1"/>
                </a:solidFill>
              </a:rPr>
              <a:t>ADVANCED ANALYSIS (Q8, Q9, Q10)</a:t>
            </a:r>
            <a:endParaRPr lang="en-IN" sz="3600" i="0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7874D-7F9E-C5C8-D94B-B8A083D63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2" y="3429001"/>
            <a:ext cx="6220540" cy="3348962"/>
          </a:xfrm>
        </p:spPr>
        <p:txBody>
          <a:bodyPr anchor="ctr">
            <a:norm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Performed quarter-wise engagement analysis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Identified top-performing dates using ranking 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Built reusable stored procedure for dynamic reporting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C5019ABC-363A-0A5E-6CF0-C790A6B27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1554334F-AED8-2E22-35C9-05733C528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5FD6FB96-BB8A-C790-BD19-61FB5518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BF7E9DEA-80EA-23B2-0B68-27B0313DEE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07511B92-B127-E3CE-2DEE-8F21550D64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4C6C231B-4529-2656-9B13-7FEDFB84A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B66255FE-07AB-272B-C00C-9EC46861A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171AE16-E29D-D387-D467-607F2847A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2412142-5F19-B30C-DAF8-C93A46F6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401A234-E769-7835-1CF3-B563DCC25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EE64885-01A5-DDEC-BDE9-FBD2A5EAD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55A8983-DFCD-3F40-E043-3C6AF8D8C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E396EA29-0FEA-8466-8255-F6E2E226F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4D61BC0F-F20C-474C-1498-A9C4A84EC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75BCE39B-7675-9C2A-6722-77EB6959C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30F61EC-2E80-927F-8E91-87035EC30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86BCDE0-12CF-B249-BE68-A770F5DBF7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77" y="3594901"/>
            <a:ext cx="5159861" cy="3263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6D5C1F-B371-BEB2-F3D4-37166F9ED3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77" y="1616629"/>
            <a:ext cx="5123720" cy="1914906"/>
          </a:xfrm>
          <a:prstGeom prst="rect">
            <a:avLst/>
          </a:prstGeom>
        </p:spPr>
      </p:pic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678CE7EE-8ED7-98F9-CB46-102F203FCF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7249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8825">
        <p15:prstTrans prst="peelOff"/>
      </p:transition>
    </mc:Choice>
    <mc:Fallback xmlns="">
      <p:transition spd="slow" advTm="2882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DA679-CE31-CCD3-189F-E3AE0782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BDDE3AE-AA32-FAE0-CE49-1AAA91A5F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6B1E987-CD1C-FF90-829C-5CEA9F67F1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-36337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554A00-BB46-81BF-DCCD-D61E8442E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9267" y="98776"/>
            <a:ext cx="5643272" cy="1440584"/>
          </a:xfrm>
        </p:spPr>
        <p:txBody>
          <a:bodyPr>
            <a:noAutofit/>
          </a:bodyPr>
          <a:lstStyle/>
          <a:p>
            <a:pPr algn="ctr"/>
            <a:r>
              <a:rPr lang="en-IN" sz="5400" i="0" u="sng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2A984-94B1-5869-D65F-D60A725ED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53" y="2413417"/>
            <a:ext cx="8545704" cy="4345808"/>
          </a:xfrm>
        </p:spPr>
        <p:txBody>
          <a:bodyPr anchor="ctr">
            <a:normAutofit/>
          </a:bodyPr>
          <a:lstStyle/>
          <a:p>
            <a:pPr marL="285750" lvl="0" indent="-2857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1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lvl="0" indent="-2857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Reels and video content drive higher reach </a:t>
            </a:r>
          </a:p>
          <a:p>
            <a:pPr marL="285750" lvl="0" indent="-2857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Certain categories (like Mobile/Gadgets) perform better </a:t>
            </a:r>
          </a:p>
          <a:p>
            <a:pPr marL="285750" lvl="0" indent="-2857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Engagement varies across months and weeks </a:t>
            </a:r>
          </a:p>
          <a:p>
            <a:pPr marL="285750" lvl="0" indent="-2857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Posting timing impacts follower growth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5F0B7743-6208-3263-1D79-A55742A27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A71CD617-520A-4F9A-7BA4-260A584EC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50A6BC4B-D613-70C6-A6DF-EFB8CA957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D09D7173-8CD1-F486-EB24-4FDB53B009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A125618A-7F14-3CA9-5194-BA9634277E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3EA92E61-5EB1-B732-0B83-C833AD8BFD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97B71BBA-7898-6892-2AFB-6DB84BADD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DFA9A5B-4017-1FEF-04D6-C11CCC643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80078C-DEE8-EE65-2101-E01188E31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E7FF96-3A0A-643E-5C80-CA1EB6720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E9855FE-5BBE-8446-8E76-BA727A7F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5AD5D51-068D-046E-878D-046A8FDBF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58AF4DE2-3116-4438-BE1C-FDBF8C0D5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C4B5B6D8-9F36-37EA-0189-5767D4273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38CC1D85-A847-0E92-E762-C21C03BAC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0A72E16-A6C7-38F0-FA82-7E5E3D0DB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79BADA6E-0FD1-D35C-F3D5-B34C79D698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987552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7995">
        <p15:prstTrans prst="peelOff"/>
      </p:transition>
    </mc:Choice>
    <mc:Fallback xmlns="">
      <p:transition spd="slow" advTm="1799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6C505-79B4-8C91-C0F8-BEFDD734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82DC5DA-ED48-4D68-F7AD-912BC9A3C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3D0E3B9-1E73-FE12-4F8E-4EB83949A5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0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83D005-0C2C-38F2-6CF5-96E01D698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33" y="728362"/>
            <a:ext cx="7250677" cy="1175389"/>
          </a:xfrm>
        </p:spPr>
        <p:txBody>
          <a:bodyPr>
            <a:noAutofit/>
          </a:bodyPr>
          <a:lstStyle/>
          <a:p>
            <a:pPr algn="ctr"/>
            <a:r>
              <a:rPr lang="en-IN" sz="4800" i="0" u="sng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BFF3E-FBD9-34C1-12BD-47C8835ED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4488" y="2815017"/>
            <a:ext cx="8804554" cy="3569453"/>
          </a:xfrm>
        </p:spPr>
        <p:txBody>
          <a:bodyPr anchor="ctr">
            <a:norm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 on high-performing content formats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Optimize posts for top-performing categories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Maintain consistent posting schedule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Leverage high-engagement periods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9E594229-D943-A661-DAC4-C52224513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CC49024D-93BC-A2BE-D229-021C4A576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F7B021EB-7300-24D0-12F0-0075A6772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4F7BA4FC-D7E2-0230-CF53-681615F4F5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B37EBB43-4C04-BF63-9D6B-F5CA575167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9694524C-3848-6C3D-A652-8612E7EFE8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E3FA3DEB-F529-82C9-603E-CA53C93CB3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1FE6FE6-2740-87B5-F9F9-764F778A9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265D704-F480-D0D6-50A4-97E30FE1E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2FDF13D-F916-F24D-1371-7DC4E09C8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A30956B-B058-2BB4-476D-6F6FF2F1B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135EFD9-441D-EB22-7880-0FD319CE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455673BA-6225-D95E-C041-A088ADD80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517F23C0-EBD5-B353-46A5-898A2963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94DF26C1-4239-EE8C-E66A-50AA3BF84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9AA683C-19F6-8D4F-D951-74ECC5FCD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8714D00B-786D-D15B-6C9E-0EAF593793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30642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4222">
        <p15:prstTrans prst="peelOff"/>
      </p:transition>
    </mc:Choice>
    <mc:Fallback xmlns="">
      <p:transition spd="slow" advTm="142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A462D-EBCD-E04F-3DC7-E8DBB496F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DD3E88D-A030-2E98-38AB-05AE4E744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3CCFB29-E342-69FD-4BE2-7ED79B66C69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0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38B07-E91F-902D-2E5A-1E7433992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8255" y="74648"/>
            <a:ext cx="7250677" cy="1175389"/>
          </a:xfrm>
        </p:spPr>
        <p:txBody>
          <a:bodyPr>
            <a:noAutofit/>
          </a:bodyPr>
          <a:lstStyle/>
          <a:p>
            <a:pPr algn="r"/>
            <a:r>
              <a:rPr lang="en-IN" sz="4800" i="0" u="sng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25367-5B27-30B0-2C50-3B6CB4D74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34" y="3428995"/>
            <a:ext cx="9195150" cy="2821901"/>
          </a:xfrm>
        </p:spPr>
        <p:txBody>
          <a:bodyPr anchor="ctr">
            <a:normAutofit lnSpcReduction="10000"/>
          </a:bodyPr>
          <a:lstStyle/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Data-driven decisions improve content strategy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SQL enables deep analytical insights 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Helps maximize reach and engagement </a:t>
            </a: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C0E4E41F-8C42-3ED0-09D8-F59D9AFC8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8A48D5CF-63D2-9B58-5F82-80B175C1E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B458E6ED-1EAF-A729-3C8C-555EB81BF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65408540-B533-4945-3BE7-6E1C017216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4424E016-AEC8-513E-A56E-B08C5CEFA5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044F7ED0-0530-7265-C6DC-AAB3445DE2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8717BB92-9C05-57F8-2CF5-9CEC39579C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491C346-6D8F-CC30-B2F0-F4059A54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46A8AC3-087A-6B30-3975-E1687F0A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22519C8-E511-3D5C-33BB-9398CCD7A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D1361F5-7564-E494-EAA0-22CA21F73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6DEA7DE-3FC6-55A6-ECD9-578D2D627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5D6C7C94-F6EF-3F7A-0E51-796EFCBCE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AFF86DF4-99BB-52D5-0C9A-57945AB32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EFE4DA88-BB3C-6E9A-22B8-E085D06A4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145B55E-A92D-E82B-8A33-DE16A988FF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5AF0BE4C-13CA-214B-C576-A1FDD9E5F1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409558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1673">
        <p15:prstTrans prst="peelOff"/>
      </p:transition>
    </mc:Choice>
    <mc:Fallback xmlns="">
      <p:transition spd="slow" advTm="116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A7DE6-F18E-B0D3-A68A-27EC103D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A21BCFA-D796-DF1E-7B95-E3C112BF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973DBBA-B83F-DA95-BD90-7A1D0AC5F93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6782" r="-1" b="20852"/>
          <a:stretch>
            <a:fillRect/>
          </a:stretch>
        </p:blipFill>
        <p:spPr>
          <a:xfrm>
            <a:off x="-45127" y="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ED4593-BA39-E1A6-DFB6-40849C599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9103" y="2458084"/>
            <a:ext cx="7250677" cy="1175389"/>
          </a:xfrm>
        </p:spPr>
        <p:txBody>
          <a:bodyPr>
            <a:noAutofit/>
          </a:bodyPr>
          <a:lstStyle/>
          <a:p>
            <a:pPr algn="ctr"/>
            <a:r>
              <a:rPr lang="en-IN" sz="6600" i="0" u="sng" dirty="0">
                <a:solidFill>
                  <a:schemeClr val="bg1"/>
                </a:solidFill>
              </a:rPr>
              <a:t>THANK</a:t>
            </a:r>
            <a:r>
              <a:rPr lang="en-IN" sz="4800" i="0" u="sng" dirty="0">
                <a:solidFill>
                  <a:schemeClr val="bg1"/>
                </a:solidFill>
              </a:rPr>
              <a:t>  </a:t>
            </a:r>
            <a:r>
              <a:rPr lang="en-IN" sz="6600" i="0" u="sng" dirty="0">
                <a:solidFill>
                  <a:schemeClr val="bg1"/>
                </a:solidFill>
              </a:rPr>
              <a:t>YOU</a:t>
            </a:r>
            <a:endParaRPr lang="en-IN" sz="4800" i="0" u="sng" dirty="0">
              <a:solidFill>
                <a:schemeClr val="bg1"/>
              </a:solidFill>
            </a:endParaRPr>
          </a:p>
        </p:txBody>
      </p:sp>
      <p:grpSp>
        <p:nvGrpSpPr>
          <p:cNvPr id="46" name="Graphic 78">
            <a:extLst>
              <a:ext uri="{FF2B5EF4-FFF2-40B4-BE49-F238E27FC236}">
                <a16:creationId xmlns:a16="http://schemas.microsoft.com/office/drawing/2014/main" id="{258997C4-AA4F-90C5-0395-10002361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9" name="Graphic 78">
              <a:extLst>
                <a:ext uri="{FF2B5EF4-FFF2-40B4-BE49-F238E27FC236}">
                  <a16:creationId xmlns:a16="http://schemas.microsoft.com/office/drawing/2014/main" id="{1859400F-C526-C1F5-50AA-ED54AE7EA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aphic 78">
              <a:extLst>
                <a:ext uri="{FF2B5EF4-FFF2-40B4-BE49-F238E27FC236}">
                  <a16:creationId xmlns:a16="http://schemas.microsoft.com/office/drawing/2014/main" id="{AC443E90-6761-D69B-C0B0-87C7D6983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1" name="Graphic 78">
                <a:extLst>
                  <a:ext uri="{FF2B5EF4-FFF2-40B4-BE49-F238E27FC236}">
                    <a16:creationId xmlns:a16="http://schemas.microsoft.com/office/drawing/2014/main" id="{C2DE725B-FBA7-0145-153E-92DA86F640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16703E83-B1AE-2A06-8C12-2C327CC093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7A540975-541E-B617-8468-9895C26BD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79923CAD-C0DD-E75C-73A0-DCF3A98A66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A93E85D-2E01-A552-11B5-833F5F67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2E5A35-5135-241A-321C-69338664D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2A49D82-0BCA-E3B1-CC56-89896F7B0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2E574F7-A354-2792-8735-5A889FCB5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D0F7A7-736E-326B-A720-54F1A5F95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B6CD59F8-EDF0-4434-E64C-5E267AAFB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5">
              <a:extLst>
                <a:ext uri="{FF2B5EF4-FFF2-40B4-BE49-F238E27FC236}">
                  <a16:creationId xmlns:a16="http://schemas.microsoft.com/office/drawing/2014/main" id="{5EC80426-4D9E-AF9A-A1C2-E1F5A2427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5">
              <a:extLst>
                <a:ext uri="{FF2B5EF4-FFF2-40B4-BE49-F238E27FC236}">
                  <a16:creationId xmlns:a16="http://schemas.microsoft.com/office/drawing/2014/main" id="{A23FCA4A-279A-65AC-2CE2-1859434FE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E374115-ED8F-59F0-DE73-410D53A32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CB5665EF-66C3-F82B-772F-1CE866A608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4337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7640">
        <p15:prstTrans prst="peelOff"/>
      </p:transition>
    </mc:Choice>
    <mc:Fallback xmlns="">
      <p:transition spd="slow" advTm="1764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"/>
</p:tagLst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7172</TotalTime>
  <Words>276</Words>
  <Application>Microsoft Office PowerPoint</Application>
  <PresentationFormat>Widescreen</PresentationFormat>
  <Paragraphs>65</Paragraphs>
  <Slides>13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Abadi</vt:lpstr>
      <vt:lpstr>Aharoni</vt:lpstr>
      <vt:lpstr>Arial</vt:lpstr>
      <vt:lpstr>Avenir Next LT Pro</vt:lpstr>
      <vt:lpstr>Avenir Next LT Pro Light</vt:lpstr>
      <vt:lpstr>Georgia Pro Semibold</vt:lpstr>
      <vt:lpstr>Wingdings</vt:lpstr>
      <vt:lpstr>RocaVTI</vt:lpstr>
      <vt:lpstr>Tech Instagram Influencer Analysis</vt:lpstr>
      <vt:lpstr>OBJECTIVE</vt:lpstr>
      <vt:lpstr>DATASET OVERVIEW</vt:lpstr>
      <vt:lpstr>DATA PREPARATION</vt:lpstr>
      <vt:lpstr>CONTENT TYPE ANALYSIS (Q1 &amp; Q2)</vt:lpstr>
      <vt:lpstr>WEEKEND ANALYSIS (Q3)</vt:lpstr>
      <vt:lpstr>MONTHLY GROWTH (Q4)</vt:lpstr>
      <vt:lpstr>ENGAGEMENT INSIGHTS (Q5, Q6, Q7)</vt:lpstr>
      <vt:lpstr>ADVANCED ANALYSIS (Q8, Q9, Q10)</vt:lpstr>
      <vt:lpstr>KEY INSIGHTS</vt:lpstr>
      <vt:lpstr>RECOMMENDATIONS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malisavitackd@gmail.com</dc:creator>
  <cp:lastModifiedBy>malisavitackd@gmail.com</cp:lastModifiedBy>
  <cp:revision>10</cp:revision>
  <dcterms:created xsi:type="dcterms:W3CDTF">2026-04-29T11:13:16Z</dcterms:created>
  <dcterms:modified xsi:type="dcterms:W3CDTF">2026-05-04T12:35:13Z</dcterms:modified>
</cp:coreProperties>
</file>